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Virtual-to-Physical</a:t>
            </a:r>
            <a:br/>
            <a:r>
              <a:t>Address Translation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4DCF5"/>
                </a:solidFill>
              </a:defRPr>
            </a:pPr>
            <a:r>
              <a:t>Demonstrating Page Tables and the Translation Lookaside Buffer (TLB)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46120"/>
            <a:ext cx="2926080" cy="73152"/>
          </a:xfrm>
          <a:prstGeom prst="rect">
            <a:avLst/>
          </a:prstGeom>
          <a:solidFill>
            <a:srgbClr val="F5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Operating Systems and System Programming (OSSP)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346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69BE"/>
                </a:solidFill>
              </a:defRPr>
            </a:pPr>
            <a:r>
              <a:t>What problem does the project solve?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A program uses virtual addresses when it reads or writes memory.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RAM is accessed using physical addresses.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The operating system and hardware translate virtual addresses into physical addresses.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Our simulator makes this translation visible step by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OSSP PROJECT  |  Virtual-to-Physical Address Translation Simulator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346"/>
                </a:solidFill>
              </a:defRPr>
            </a:pPr>
            <a:r>
              <a:t>2.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Show how a virtual address is split into a page number and an offset.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Use a page table to map virtual pages to physical frames.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Demonstrate how the TLB stores recently used translations.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Compare TLB hit and TLB miss behavior.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Help students understand memory translation without needing real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OSSP PROJECT  |  Virtual-to-Physical Address Translation Simulator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346"/>
                </a:solidFill>
              </a:defRPr>
            </a:pPr>
            <a:r>
              <a:t>3. 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Virtual address: address generated by the CPU for a process.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Page: fixed-size block of virtual memory.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Physical frame: fixed-size block of RAM; same size as a page.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Page table: mapping from virtual page numbers to physical frame numbers.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TLB: small, fast cache that remembers recent page-table translations.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Offset: location inside a page; it stays the same during translation.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OSSP PROJECT  |  Virtual-to-Physical Address Translation Simulator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346"/>
                </a:solidFill>
              </a:defRPr>
            </a:pPr>
            <a:r>
              <a:t>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Input: user enters a virtual address.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Split: simulator calculates the virtual page number and offset.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TLB lookup: check whether the page-to-frame mapping is cached.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Page-table lookup: if TLB misses, search the page table.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Physical address: combine the physical frame number with the original offset.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Output: show the address, hit/miss result, and translation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OSSP PROJECT  |  Virtual-to-Physical Address Translation Simulator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346"/>
                </a:solidFill>
              </a:defRPr>
            </a:pPr>
            <a:r>
              <a:t>5. Translation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69BE"/>
                </a:solidFill>
              </a:defRPr>
            </a:pPr>
            <a:r>
              <a:t>The TLB is checked before the page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920240" cy="914400"/>
          </a:xfrm>
          <a:prstGeom prst="roundRect">
            <a:avLst/>
          </a:prstGeom>
          <a:solidFill>
            <a:srgbClr val="2D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Virtual</a:t>
            </a:r>
            <a:br/>
            <a:r>
              <a:t>Address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920240"/>
            <a:ext cx="1920240" cy="914400"/>
          </a:xfrm>
          <a:prstGeom prst="roundRect">
            <a:avLst/>
          </a:prstGeom>
          <a:solidFill>
            <a:srgbClr val="19919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Split into</a:t>
            </a:r>
            <a:br/>
            <a:r>
              <a:t>Page + Offset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1920240" cy="914400"/>
          </a:xfrm>
          <a:prstGeom prst="roundRect">
            <a:avLst/>
          </a:prstGeom>
          <a:solidFill>
            <a:srgbClr val="2D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Check</a:t>
            </a:r>
            <a:br/>
            <a:r>
              <a:t>TLB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1828800" cy="914400"/>
          </a:xfrm>
          <a:prstGeom prst="roundRect">
            <a:avLst/>
          </a:prstGeom>
          <a:solidFill>
            <a:srgbClr val="19919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TLB Hit:</a:t>
            </a:r>
            <a:br/>
            <a:r>
              <a:t>use frame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834640"/>
            <a:ext cx="1828800" cy="914400"/>
          </a:xfrm>
          <a:prstGeom prst="roundRect">
            <a:avLst/>
          </a:prstGeom>
          <a:solidFill>
            <a:srgbClr val="F5B7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42346"/>
                </a:solidFill>
              </a:defRPr>
            </a:pPr>
            <a:r>
              <a:t>TLB Miss:</a:t>
            </a:r>
            <a:br/>
            <a:r>
              <a:t>check page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920240"/>
            <a:ext cx="1645920" cy="914400"/>
          </a:xfrm>
          <a:prstGeom prst="roundRect">
            <a:avLst/>
          </a:prstGeom>
          <a:solidFill>
            <a:srgbClr val="14234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Build Physical</a:t>
            </a:r>
            <a:br/>
            <a:r>
              <a:t>Address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377440"/>
            <a:ext cx="365760" cy="0"/>
          </a:xfrm>
          <a:prstGeom prst="line">
            <a:avLst/>
          </a:prstGeom>
          <a:ln w="25400">
            <a:solidFill>
              <a:srgbClr val="28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46320" y="2377440"/>
            <a:ext cx="457200" cy="0"/>
          </a:xfrm>
          <a:prstGeom prst="line">
            <a:avLst/>
          </a:prstGeom>
          <a:ln w="25400">
            <a:solidFill>
              <a:srgbClr val="28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223760" y="1645920"/>
            <a:ext cx="457200" cy="548640"/>
          </a:xfrm>
          <a:prstGeom prst="line">
            <a:avLst/>
          </a:prstGeom>
          <a:ln w="25400">
            <a:solidFill>
              <a:srgbClr val="28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23760" y="2560320"/>
            <a:ext cx="457200" cy="731520"/>
          </a:xfrm>
          <a:prstGeom prst="line">
            <a:avLst/>
          </a:prstGeom>
          <a:ln w="25400">
            <a:solidFill>
              <a:srgbClr val="28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09760" y="1645920"/>
            <a:ext cx="457200" cy="548640"/>
          </a:xfrm>
          <a:prstGeom prst="line">
            <a:avLst/>
          </a:prstGeom>
          <a:ln w="25400">
            <a:solidFill>
              <a:srgbClr val="28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509760" y="2560320"/>
            <a:ext cx="457200" cy="731520"/>
          </a:xfrm>
          <a:prstGeom prst="line">
            <a:avLst/>
          </a:prstGeom>
          <a:ln w="25400">
            <a:solidFill>
              <a:srgbClr val="28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OSSP PROJECT  |  Virtual-to-Physical Address Translation Simulator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346"/>
                </a:solidFill>
              </a:defRPr>
            </a:pPr>
            <a:r>
              <a:t>6. Example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69BE"/>
                </a:solidFill>
              </a:defRPr>
            </a:pPr>
            <a:r>
              <a:t>Example numbers are illustrative; the simulator can use its own configured page size.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Assume page size = 1,024 bytes.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Virtual address = 2,500.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Virtual page number = 2,500 ÷ 1,024 = 2 (integer division).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Offset = 2,500 − (2 × 1,024) = 452.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If page table maps virtual page 2 to physical frame 5, then: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Physical address = (5 × 1,024) + 452 = 5,572.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OSSP PROJECT  |  Virtual-to-Physical Address Translation Simulator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346"/>
                </a:solidFill>
              </a:defRPr>
            </a:pPr>
            <a:r>
              <a:t>7. What the TLB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TLB hit: the mapping is found in the TLB, so translation is faster.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TLB miss: the mapping is not in the TLB; the page table must be checked.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After a miss, the simulator can add the mapping to the TLB.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Repeatedly translating the same page should often produce a hit.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A TLB miss is not automatically a page fault: the page may still be present in 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OSSP PROJECT  |  Virtual-to-Physical Address Translation Simulator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346"/>
                </a:solidFill>
              </a:defRPr>
            </a:pPr>
            <a:r>
              <a:t>8. Algorithm / 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303C"/>
                </a:solidFill>
              </a:defRPr>
            </a:pPr>
            <a:r>
              <a:t>•  1. Read the virtual address.</a:t>
            </a:r>
          </a:p>
          <a:p>
            <a:pPr>
              <a:spcAft>
                <a:spcPts val="1400"/>
              </a:spcAft>
              <a:defRPr sz="1800">
                <a:solidFill>
                  <a:srgbClr val="28303C"/>
                </a:solidFill>
              </a:defRPr>
            </a:pPr>
            <a:r>
              <a:t>•  2. Calculate page_number = address // page_size.</a:t>
            </a:r>
          </a:p>
          <a:p>
            <a:pPr>
              <a:spcAft>
                <a:spcPts val="1400"/>
              </a:spcAft>
              <a:defRPr sz="1800">
                <a:solidFill>
                  <a:srgbClr val="28303C"/>
                </a:solidFill>
              </a:defRPr>
            </a:pPr>
            <a:r>
              <a:t>•  3. Calculate offset = address % page_size.</a:t>
            </a:r>
          </a:p>
          <a:p>
            <a:pPr>
              <a:spcAft>
                <a:spcPts val="1400"/>
              </a:spcAft>
              <a:defRPr sz="1800">
                <a:solidFill>
                  <a:srgbClr val="28303C"/>
                </a:solidFill>
              </a:defRPr>
            </a:pPr>
            <a:r>
              <a:t>•  4. If page_number exists in TLB, get frame_number and report TLB HIT.</a:t>
            </a:r>
          </a:p>
          <a:p>
            <a:pPr>
              <a:spcAft>
                <a:spcPts val="1400"/>
              </a:spcAft>
              <a:defRPr sz="1800">
                <a:solidFill>
                  <a:srgbClr val="28303C"/>
                </a:solidFill>
              </a:defRPr>
            </a:pPr>
            <a:r>
              <a:t>•  5. Otherwise, find frame_number in the page table and report TLB MISS.</a:t>
            </a:r>
          </a:p>
          <a:p>
            <a:pPr>
              <a:spcAft>
                <a:spcPts val="1400"/>
              </a:spcAft>
              <a:defRPr sz="1800">
                <a:solidFill>
                  <a:srgbClr val="28303C"/>
                </a:solidFill>
              </a:defRPr>
            </a:pPr>
            <a:r>
              <a:t>•  6. Optionally store this mapping in the TLB.</a:t>
            </a:r>
          </a:p>
          <a:p>
            <a:pPr>
              <a:spcAft>
                <a:spcPts val="1400"/>
              </a:spcAft>
              <a:defRPr sz="1800">
                <a:solidFill>
                  <a:srgbClr val="28303C"/>
                </a:solidFill>
              </a:defRPr>
            </a:pPr>
            <a:r>
              <a:t>•  7. Calculate physical_address = frame_number × page_size + offset.</a:t>
            </a:r>
          </a:p>
          <a:p>
            <a:pPr>
              <a:spcAft>
                <a:spcPts val="1400"/>
              </a:spcAft>
              <a:defRPr sz="1800">
                <a:solidFill>
                  <a:srgbClr val="28303C"/>
                </a:solidFill>
              </a:defRPr>
            </a:pPr>
            <a:r>
              <a:t>•  8. Display each step and the final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OSSP PROJECT  |  Virtual-to-Physical Address Translation Simulator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346"/>
                </a:solidFill>
              </a:defRPr>
            </a:pPr>
            <a:r>
              <a:t>9. Demo Plan for Expo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Start with a virtual address and show its page number and offset.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Use a page that is in the TLB: point out the TLB HIT.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Use a page that is in the page table but not the TLB: show TLB MISS, then page-table lookup.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Enter the same address again: show how the cached translation can create a hit.</a:t>
            </a:r>
          </a:p>
          <a:p>
            <a:pPr>
              <a:spcAft>
                <a:spcPts val="1400"/>
              </a:spcAft>
              <a:defRPr sz="1900">
                <a:solidFill>
                  <a:srgbClr val="28303C"/>
                </a:solidFill>
              </a:defRPr>
            </a:pPr>
            <a:r>
              <a:t>•  Explain the final physical address and why the offset does not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OSSP PROJECT  |  Virtual-to-Physical Address Translation Simulator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346"/>
                </a:solidFill>
              </a:defRPr>
            </a:pPr>
            <a:r>
              <a:t>10. Benefits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303C"/>
                </a:solidFill>
              </a:defRPr>
            </a:pPr>
            <a:r>
              <a:t>•  Benefits: visual, beginner-friendly, repeatable, and useful for learning OS memory management.</a:t>
            </a:r>
          </a:p>
          <a:p>
            <a:pPr>
              <a:spcAft>
                <a:spcPts val="1400"/>
              </a:spcAft>
              <a:defRPr sz="1800">
                <a:solidFill>
                  <a:srgbClr val="28303C"/>
                </a:solidFill>
              </a:defRPr>
            </a:pPr>
            <a:r>
              <a:t>•  Makes TLB hits and misses easy to compare.</a:t>
            </a:r>
          </a:p>
          <a:p>
            <a:pPr>
              <a:spcAft>
                <a:spcPts val="1400"/>
              </a:spcAft>
              <a:defRPr sz="1800">
                <a:solidFill>
                  <a:srgbClr val="28303C"/>
                </a:solidFill>
              </a:defRPr>
            </a:pPr>
            <a:r>
              <a:t>•  A teaching simulator simplifies real CPU/MMU behavior.</a:t>
            </a:r>
          </a:p>
          <a:p>
            <a:pPr>
              <a:spcAft>
                <a:spcPts val="1400"/>
              </a:spcAft>
              <a:defRPr sz="1800">
                <a:solidFill>
                  <a:srgbClr val="28303C"/>
                </a:solidFill>
              </a:defRPr>
            </a:pPr>
            <a:r>
              <a:t>•  Unless implemented explicitly, it may not model replacement policies, multi-level page tables, protection bits, or real timing.</a:t>
            </a:r>
          </a:p>
          <a:p>
            <a:pPr>
              <a:spcAft>
                <a:spcPts val="1400"/>
              </a:spcAft>
              <a:defRPr sz="1800">
                <a:solidFill>
                  <a:srgbClr val="28303C"/>
                </a:solidFill>
              </a:defRPr>
            </a:pPr>
            <a:r>
              <a:t>•  A page-table mapping that is absent or invalid may need to be shown as an unmapped-page error/page fault, depending on the simulator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OSSP PROJECT  |  Virtual-to-Physical Address Translation Simulator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346"/>
                </a:solidFill>
              </a:defRPr>
            </a:pPr>
            <a: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Virtual addresses are translated into physical addresses using page tables.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The TLB speeds up translation by caching recent mappings.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The simulator shows the page number, offset, TLB result, page-table lookup, and physical address.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It provides a practical demonstration of an important operating-system concept.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OSSP PROJECT  |  Virtual-to-Physical Address Translation Simulator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346"/>
                </a:solidFill>
              </a:defRPr>
            </a:pPr>
            <a:r>
              <a:t>12.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69BE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What is a virtual address?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What is the difference between a page and a frame?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Why do we use a TLB?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What is a TLB hit? What is a TLB miss?</a:t>
            </a:r>
          </a:p>
          <a:p>
            <a:pPr>
              <a:spcAft>
                <a:spcPts val="1400"/>
              </a:spcAft>
              <a:defRPr sz="2100">
                <a:solidFill>
                  <a:srgbClr val="28303C"/>
                </a:solidFill>
              </a:defRPr>
            </a:pPr>
            <a:r>
              <a:t>•  Does a TLB miss always mean a page fault?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OSSP PROJECT  |  Virtual-to-Physical Address Translation Simulator                                    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